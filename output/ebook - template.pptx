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12801600" cx="9601200"/>
  <p:notesSz cx="6858000" cy="9144000"/>
  <p:embeddedFontLs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32">
          <p15:clr>
            <a:srgbClr val="A4A3A4"/>
          </p15:clr>
        </p15:guide>
        <p15:guide id="2" pos="30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32" orient="horz"/>
        <p:guide pos="30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a056b9bee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9a056b9bee_0_69:notes"/>
          <p:cNvSpPr/>
          <p:nvPr>
            <p:ph idx="2" type="sldImg"/>
          </p:nvPr>
        </p:nvSpPr>
        <p:spPr>
          <a:xfrm>
            <a:off x="2271713" y="1143000"/>
            <a:ext cx="2314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a056b9bee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9a056b9bee_0_77:notes"/>
          <p:cNvSpPr/>
          <p:nvPr>
            <p:ph idx="2" type="sldImg"/>
          </p:nvPr>
        </p:nvSpPr>
        <p:spPr>
          <a:xfrm>
            <a:off x="2271713" y="1143000"/>
            <a:ext cx="2314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a056b9bee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9a056b9bee_0_89:notes"/>
          <p:cNvSpPr/>
          <p:nvPr>
            <p:ph idx="2" type="sldImg"/>
          </p:nvPr>
        </p:nvSpPr>
        <p:spPr>
          <a:xfrm>
            <a:off x="2271713" y="1143000"/>
            <a:ext cx="2314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720090" y="2095078"/>
            <a:ext cx="8161020" cy="44568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Calibri"/>
              <a:buNone/>
              <a:defRPr sz="6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200150" y="6723804"/>
            <a:ext cx="7200900" cy="3090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/>
            </a:lvl1pPr>
            <a:lvl2pPr lvl="1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None/>
              <a:defRPr sz="1890"/>
            </a:lvl3pPr>
            <a:lvl4pPr lvl="3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4pPr>
            <a:lvl5pPr lvl="4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5pPr>
            <a:lvl6pPr lvl="5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6pPr>
            <a:lvl7pPr lvl="6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7pPr>
            <a:lvl8pPr lvl="7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8pPr>
            <a:lvl9pPr lvl="8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655082" y="3191514"/>
            <a:ext cx="8281035" cy="5325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Calibri"/>
              <a:buNone/>
              <a:defRPr sz="6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655082" y="8567000"/>
            <a:ext cx="8281035" cy="2800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888888"/>
              </a:buClr>
              <a:buSzPts val="1890"/>
              <a:buNone/>
              <a:defRPr sz="189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60083" y="3407833"/>
            <a:ext cx="4080510" cy="8122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860608" y="3407833"/>
            <a:ext cx="4080510" cy="8122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661333" y="681570"/>
            <a:ext cx="8281035" cy="247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661334" y="3138171"/>
            <a:ext cx="4061757" cy="15379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b="1" sz="2520"/>
            </a:lvl1pPr>
            <a:lvl2pPr indent="-228600" lvl="1" marL="914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2pPr>
            <a:lvl3pPr indent="-228600" lvl="2" marL="1371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None/>
              <a:defRPr b="1" sz="1890"/>
            </a:lvl3pPr>
            <a:lvl4pPr indent="-228600" lvl="3" marL="1828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b="1" sz="1679"/>
            </a:lvl4pPr>
            <a:lvl5pPr indent="-228600" lvl="4" marL="22860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b="1" sz="1679"/>
            </a:lvl5pPr>
            <a:lvl6pPr indent="-228600" lvl="5" marL="27432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b="1" sz="1679"/>
            </a:lvl6pPr>
            <a:lvl7pPr indent="-228600" lvl="6" marL="3200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b="1" sz="1679"/>
            </a:lvl7pPr>
            <a:lvl8pPr indent="-228600" lvl="7" marL="3657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b="1" sz="1679"/>
            </a:lvl8pPr>
            <a:lvl9pPr indent="-228600" lvl="8" marL="4114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b="1" sz="1679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661334" y="4676140"/>
            <a:ext cx="4061757" cy="6877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860608" y="3138171"/>
            <a:ext cx="4081761" cy="15379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b="1" sz="2520"/>
            </a:lvl1pPr>
            <a:lvl2pPr indent="-228600" lvl="1" marL="914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2pPr>
            <a:lvl3pPr indent="-228600" lvl="2" marL="1371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None/>
              <a:defRPr b="1" sz="1890"/>
            </a:lvl3pPr>
            <a:lvl4pPr indent="-228600" lvl="3" marL="1828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b="1" sz="1679"/>
            </a:lvl4pPr>
            <a:lvl5pPr indent="-228600" lvl="4" marL="22860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b="1" sz="1679"/>
            </a:lvl5pPr>
            <a:lvl6pPr indent="-228600" lvl="5" marL="27432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b="1" sz="1679"/>
            </a:lvl6pPr>
            <a:lvl7pPr indent="-228600" lvl="6" marL="3200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b="1" sz="1679"/>
            </a:lvl7pPr>
            <a:lvl8pPr indent="-228600" lvl="7" marL="3657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b="1" sz="1679"/>
            </a:lvl8pPr>
            <a:lvl9pPr indent="-228600" lvl="8" marL="4114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b="1" sz="1679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860608" y="4676140"/>
            <a:ext cx="4081761" cy="6877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61333" y="853440"/>
            <a:ext cx="3096637" cy="2987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Calibri"/>
              <a:buNone/>
              <a:defRPr sz="335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081760" y="1843196"/>
            <a:ext cx="4860608" cy="9097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196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indent="-415290" lvl="1" marL="914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940"/>
              <a:buChar char="•"/>
              <a:defRPr sz="2940"/>
            </a:lvl2pPr>
            <a:lvl3pPr indent="-388619" lvl="2" marL="1371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indent="-361950" lvl="3" marL="1828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4pPr>
            <a:lvl5pPr indent="-361950" lvl="4" marL="22860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5pPr>
            <a:lvl6pPr indent="-361950" lvl="5" marL="27432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61333" y="3840480"/>
            <a:ext cx="3096637" cy="7114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1pPr>
            <a:lvl2pPr indent="-228600" lvl="1" marL="914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470"/>
              <a:buNone/>
              <a:defRPr sz="1470"/>
            </a:lvl2pPr>
            <a:lvl3pPr indent="-228600" lvl="2" marL="1371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  <a:defRPr sz="1260"/>
            </a:lvl3pPr>
            <a:lvl4pPr indent="-228600" lvl="3" marL="1828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indent="-228600" lvl="5" marL="27432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6pPr>
            <a:lvl7pPr indent="-228600" lvl="6" marL="3200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7pPr>
            <a:lvl8pPr indent="-228600" lvl="7" marL="3657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8pPr>
            <a:lvl9pPr indent="-228600" lvl="8" marL="4114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61333" y="853440"/>
            <a:ext cx="3096637" cy="2987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Calibri"/>
              <a:buNone/>
              <a:defRPr sz="335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4081760" y="1843196"/>
            <a:ext cx="4860608" cy="9097433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61333" y="3840480"/>
            <a:ext cx="3096637" cy="7114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1pPr>
            <a:lvl2pPr indent="-228600" lvl="1" marL="914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470"/>
              <a:buNone/>
              <a:defRPr sz="1470"/>
            </a:lvl2pPr>
            <a:lvl3pPr indent="-228600" lvl="2" marL="1371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  <a:defRPr sz="1260"/>
            </a:lvl3pPr>
            <a:lvl4pPr indent="-228600" lvl="3" marL="1828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indent="-228600" lvl="5" marL="27432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6pPr>
            <a:lvl7pPr indent="-228600" lvl="6" marL="3200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7pPr>
            <a:lvl8pPr indent="-228600" lvl="7" marL="3657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8pPr>
            <a:lvl9pPr indent="-228600" lvl="8" marL="4114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739352" y="3328565"/>
            <a:ext cx="8122498" cy="82810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2481606" y="5070820"/>
            <a:ext cx="10848764" cy="2070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718919" y="3060568"/>
            <a:ext cx="10848764" cy="6090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20"/>
              <a:buFont typeface="Calibri"/>
              <a:buNone/>
              <a:defRPr b="0" i="0" sz="46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5290" lvl="0" marL="457200" marR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2940"/>
              <a:buFont typeface="Arial"/>
              <a:buChar char="•"/>
              <a:defRPr b="0" i="0" sz="29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8619" lvl="1" marL="914400" marR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b="0" i="0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8614" lvl="3" marL="1828800" marR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•"/>
              <a:defRPr b="0" i="0" sz="18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8614" lvl="4" marL="2286000" marR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•"/>
              <a:defRPr b="0" i="0" sz="18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8614" lvl="5" marL="2743200" marR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•"/>
              <a:defRPr b="0" i="0" sz="18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8614" lvl="6" marL="3200400" marR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•"/>
              <a:defRPr b="0" i="0" sz="18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8615" lvl="7" marL="3657600" marR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•"/>
              <a:defRPr b="0" i="0" sz="18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8615" lvl="8" marL="4114800" marR="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•"/>
              <a:defRPr b="0" i="0" sz="18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rafaelpoh/prompts-recipe-to-create-a-ebook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0D0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3" title="robô.jpg"/>
          <p:cNvPicPr preferRelativeResize="0"/>
          <p:nvPr/>
        </p:nvPicPr>
        <p:blipFill rotWithShape="1">
          <a:blip r:embed="rId3">
            <a:alphaModFix/>
          </a:blip>
          <a:srcRect b="0" l="22090" r="22096" t="0"/>
          <a:stretch/>
        </p:blipFill>
        <p:spPr>
          <a:xfrm>
            <a:off x="0" y="1835131"/>
            <a:ext cx="9601202" cy="96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/>
          <p:nvPr/>
        </p:nvSpPr>
        <p:spPr>
          <a:xfrm>
            <a:off x="0" y="2446960"/>
            <a:ext cx="9601200" cy="8309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53133" y="337942"/>
            <a:ext cx="10124700" cy="1200600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>
                <a:solidFill>
                  <a:schemeClr val="lt1"/>
                </a:solidFill>
              </a:rPr>
              <a:t>Matriz de Comando</a:t>
            </a:r>
            <a:endParaRPr sz="7200">
              <a:solidFill>
                <a:schemeClr val="lt1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57115" y="2520225"/>
            <a:ext cx="947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4A86E8"/>
                </a:solidFill>
              </a:rPr>
              <a:t>Prompts</a:t>
            </a:r>
            <a:r>
              <a:rPr lang="pt-BR" sz="3400">
                <a:solidFill>
                  <a:srgbClr val="4A86E8"/>
                </a:solidFill>
              </a:rPr>
              <a:t> para a </a:t>
            </a:r>
            <a:r>
              <a:rPr b="1" lang="pt-BR" sz="3400">
                <a:solidFill>
                  <a:srgbClr val="4A86E8"/>
                </a:solidFill>
              </a:rPr>
              <a:t>Conquista</a:t>
            </a:r>
            <a:r>
              <a:rPr lang="pt-BR" sz="3400">
                <a:solidFill>
                  <a:srgbClr val="4A86E8"/>
                </a:solidFill>
              </a:rPr>
              <a:t> da Máquina</a:t>
            </a:r>
            <a:endParaRPr sz="3400">
              <a:solidFill>
                <a:srgbClr val="4A86E8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2441614" y="11632650"/>
            <a:ext cx="4763100" cy="831000"/>
          </a:xfrm>
          <a:prstGeom prst="rect">
            <a:avLst/>
          </a:prstGeom>
          <a:solidFill>
            <a:srgbClr val="36AB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3008274" y="11632655"/>
            <a:ext cx="4367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D0A27"/>
                </a:solidFill>
                <a:latin typeface="Impact"/>
                <a:ea typeface="Impact"/>
                <a:cs typeface="Impact"/>
                <a:sym typeface="Impact"/>
              </a:rPr>
              <a:t>Rafael Perroni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/>
        </p:nvSpPr>
        <p:spPr>
          <a:xfrm>
            <a:off x="870768" y="2999059"/>
            <a:ext cx="78165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Seja bem-vindo à nova era da programação. Você não está mais escrevendo código para a máquina seguir, mas sim comandos de alto nível para uma inteligência. Um </a:t>
            </a:r>
            <a:r>
              <a:rPr i="1" lang="pt-BR" sz="2000">
                <a:solidFill>
                  <a:schemeClr val="dk1"/>
                </a:solidFill>
              </a:rPr>
              <a:t>prompt</a:t>
            </a:r>
            <a:r>
              <a:rPr lang="pt-BR" sz="2000">
                <a:solidFill>
                  <a:schemeClr val="dk1"/>
                </a:solidFill>
              </a:rPr>
              <a:t> bem escrito é a chave para transformar uma IA de uma ferramenta passiva em um copiloto de programação extraordinário.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A seguir, listamos as técnicas mais poderosas para dominar a arte de escrever </a:t>
            </a:r>
            <a:r>
              <a:rPr i="1" lang="pt-BR" sz="2000">
                <a:solidFill>
                  <a:schemeClr val="dk1"/>
                </a:solidFill>
              </a:rPr>
              <a:t>prompts</a:t>
            </a:r>
            <a:r>
              <a:rPr lang="pt-BR" sz="2000">
                <a:solidFill>
                  <a:schemeClr val="dk1"/>
                </a:solidFill>
              </a:rPr>
              <a:t> eficazes.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-122125" y="777775"/>
            <a:ext cx="972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Código que Comanda</a:t>
            </a:r>
            <a:endParaRPr b="1" sz="3600"/>
          </a:p>
        </p:txBody>
      </p:sp>
      <p:sp>
        <p:nvSpPr>
          <p:cNvPr id="101" name="Google Shape;101;p14"/>
          <p:cNvSpPr txBox="1"/>
          <p:nvPr/>
        </p:nvSpPr>
        <p:spPr>
          <a:xfrm>
            <a:off x="870768" y="1961917"/>
            <a:ext cx="781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Essenciais de Prompt Engineering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 title="Lucid_Origin_Um_cone_futurista_e_tecnolgico_representando_a_in_3.jpg"/>
          <p:cNvPicPr preferRelativeResize="0"/>
          <p:nvPr/>
        </p:nvPicPr>
        <p:blipFill rotWithShape="1">
          <a:blip r:embed="rId3">
            <a:alphaModFix/>
          </a:blip>
          <a:srcRect b="26390" l="0" r="0" t="26390"/>
          <a:stretch/>
        </p:blipFill>
        <p:spPr>
          <a:xfrm>
            <a:off x="0" y="6472250"/>
            <a:ext cx="9601201" cy="4533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892277" y="5809474"/>
            <a:ext cx="78165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Seja um Exterminador </a:t>
            </a:r>
            <a:endParaRPr sz="8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870860" y="631795"/>
            <a:ext cx="7816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01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870768" y="9340866"/>
            <a:ext cx="7816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O Poder da Especificidade</a:t>
            </a:r>
            <a:endParaRPr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870768" y="1307847"/>
            <a:ext cx="78165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Muitos prompts falham porque são vagos. A IA é uma máquina de padrões, e detalhes claros eliminam ambiguidades, levando a resultados mais precisos e úteis. Pense na IA como um estagiário júnior: você precisa dizer exatamente o que quer.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1270000" y="3492500"/>
            <a:ext cx="7033800" cy="56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Prompt ruim: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"Me dê código Python para acessar um site."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Prompt bom:</a:t>
            </a:r>
            <a:br>
              <a:rPr lang="pt-BR" sz="2000">
                <a:solidFill>
                  <a:schemeClr val="dk1"/>
                </a:solidFill>
              </a:rPr>
            </a:br>
            <a:r>
              <a:rPr lang="pt-BR" sz="2000">
                <a:solidFill>
                  <a:schemeClr val="dk1"/>
                </a:solidFill>
              </a:rPr>
              <a:t>"Gere uma função assíncrona em </a:t>
            </a:r>
            <a:r>
              <a:rPr b="1" lang="pt-BR" sz="2000">
                <a:solidFill>
                  <a:schemeClr val="dk1"/>
                </a:solidFill>
              </a:rPr>
              <a:t>Python</a:t>
            </a:r>
            <a:r>
              <a:rPr lang="pt-BR" sz="2000">
                <a:solidFill>
                  <a:schemeClr val="dk1"/>
                </a:solidFill>
              </a:rPr>
              <a:t> usando a biblioteca </a:t>
            </a:r>
            <a:r>
              <a:rPr b="1"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requests</a:t>
            </a:r>
            <a:r>
              <a:rPr lang="pt-BR" sz="2000">
                <a:solidFill>
                  <a:schemeClr val="dk1"/>
                </a:solidFill>
              </a:rPr>
              <a:t> para fazer um GET na URL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https://api.exemplo.com/dados</a:t>
            </a:r>
            <a:r>
              <a:rPr lang="pt-BR" sz="2000">
                <a:solidFill>
                  <a:schemeClr val="dk1"/>
                </a:solidFill>
              </a:rPr>
              <a:t> e extrair o campo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r>
              <a:rPr lang="pt-BR" sz="2000">
                <a:solidFill>
                  <a:schemeClr val="dk1"/>
                </a:solidFill>
              </a:rPr>
              <a:t> do JSON, tratando possíveis erros de conexão."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Prompt ruim: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"Resuma este artigo."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Prompt bom: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"Resuma este artigo de 2000 palavras em </a:t>
            </a:r>
            <a:r>
              <a:rPr b="1" lang="pt-BR" sz="2000">
                <a:solidFill>
                  <a:schemeClr val="dk1"/>
                </a:solidFill>
              </a:rPr>
              <a:t>três parágrafos curtos</a:t>
            </a:r>
            <a:r>
              <a:rPr lang="pt-BR" sz="2000">
                <a:solidFill>
                  <a:schemeClr val="dk1"/>
                </a:solidFill>
              </a:rPr>
              <a:t>. Use uma linguagem formal e liste os </a:t>
            </a:r>
            <a:r>
              <a:rPr b="1" lang="pt-BR" sz="2000">
                <a:solidFill>
                  <a:schemeClr val="dk1"/>
                </a:solidFill>
              </a:rPr>
              <a:t>três pontos principais</a:t>
            </a:r>
            <a:r>
              <a:rPr lang="pt-BR" sz="2000">
                <a:solidFill>
                  <a:schemeClr val="dk1"/>
                </a:solidFill>
              </a:rPr>
              <a:t> em uma seção separada de bullet points."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892277" y="6004859"/>
            <a:ext cx="78165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O Protocolo Asimov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870860" y="631795"/>
            <a:ext cx="7816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02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870768" y="9340866"/>
            <a:ext cx="7816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Atribuição de Papel (Role-Playing)</a:t>
            </a:r>
            <a:endParaRPr sz="6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/>
        </p:nvSpPr>
        <p:spPr>
          <a:xfrm>
            <a:off x="870768" y="1307847"/>
            <a:ext cx="78165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Diga à IA quem ela é. Ao atribuir um </a:t>
            </a:r>
            <a:r>
              <a:rPr b="1" lang="pt-BR" sz="2000">
                <a:solidFill>
                  <a:schemeClr val="dk1"/>
                </a:solidFill>
              </a:rPr>
              <a:t>papel</a:t>
            </a:r>
            <a:r>
              <a:rPr lang="pt-BR" sz="2000">
                <a:solidFill>
                  <a:schemeClr val="dk1"/>
                </a:solidFill>
              </a:rPr>
              <a:t> ou uma </a:t>
            </a:r>
            <a:r>
              <a:rPr b="1" lang="pt-BR" sz="2000">
                <a:solidFill>
                  <a:schemeClr val="dk1"/>
                </a:solidFill>
              </a:rPr>
              <a:t>persona</a:t>
            </a:r>
            <a:r>
              <a:rPr lang="pt-BR" sz="2000">
                <a:solidFill>
                  <a:schemeClr val="dk1"/>
                </a:solidFill>
              </a:rPr>
              <a:t> (ex: "Você é um especialista em segurança cibernética...", "Atue como um programador sênior em Go..."), você ativa um subconjunto de conhecimento especializado, elevando a qualidade e o tom da resposta.</a:t>
            </a:r>
            <a:endParaRPr sz="2000"/>
          </a:p>
        </p:txBody>
      </p:sp>
      <p:sp>
        <p:nvSpPr>
          <p:cNvPr id="134" name="Google Shape;134;p18"/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1270000" y="3492500"/>
            <a:ext cx="7033800" cy="4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Exemplo de prompt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"Atue como um </a:t>
            </a:r>
            <a:r>
              <a:rPr b="1" lang="pt-BR" sz="2000">
                <a:solidFill>
                  <a:schemeClr val="dk1"/>
                </a:solidFill>
              </a:rPr>
              <a:t>desenvolvedor Sênior de Back-end</a:t>
            </a:r>
            <a:r>
              <a:rPr lang="pt-BR" sz="2000">
                <a:solidFill>
                  <a:schemeClr val="dk1"/>
                </a:solidFill>
              </a:rPr>
              <a:t>. Analise o seguinte trecho de código </a:t>
            </a:r>
            <a:r>
              <a:rPr b="1" lang="pt-BR" sz="2000">
                <a:solidFill>
                  <a:schemeClr val="dk1"/>
                </a:solidFill>
              </a:rPr>
              <a:t>Java</a:t>
            </a:r>
            <a:r>
              <a:rPr lang="pt-BR" sz="2000">
                <a:solidFill>
                  <a:schemeClr val="dk1"/>
                </a:solidFill>
              </a:rPr>
              <a:t> e me diga qual é o </a:t>
            </a:r>
            <a:r>
              <a:rPr b="1" lang="pt-BR" sz="2000">
                <a:solidFill>
                  <a:schemeClr val="dk1"/>
                </a:solidFill>
              </a:rPr>
              <a:t>erro de </a:t>
            </a:r>
            <a:r>
              <a:rPr b="1" i="1" lang="pt-BR" sz="2000">
                <a:solidFill>
                  <a:schemeClr val="dk1"/>
                </a:solidFill>
              </a:rPr>
              <a:t>thread safety</a:t>
            </a:r>
            <a:r>
              <a:rPr lang="pt-BR" sz="2000">
                <a:solidFill>
                  <a:schemeClr val="dk1"/>
                </a:solidFill>
              </a:rPr>
              <a:t> e como corrigi-lo usando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synchronized</a:t>
            </a:r>
            <a:r>
              <a:rPr lang="pt-BR" sz="2000">
                <a:solidFill>
                  <a:schemeClr val="dk1"/>
                </a:solidFill>
              </a:rPr>
              <a:t> ou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ReentrantLock</a:t>
            </a:r>
            <a:r>
              <a:rPr lang="pt-BR" sz="2000">
                <a:solidFill>
                  <a:schemeClr val="dk1"/>
                </a:solidFill>
              </a:rPr>
              <a:t>."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Outro exemplo: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"Você é um </a:t>
            </a:r>
            <a:r>
              <a:rPr b="1" lang="pt-BR" sz="2000">
                <a:solidFill>
                  <a:schemeClr val="dk1"/>
                </a:solidFill>
              </a:rPr>
              <a:t>Arquiteto de Soluções Cloud</a:t>
            </a:r>
            <a:r>
              <a:rPr lang="pt-BR" sz="2000">
                <a:solidFill>
                  <a:schemeClr val="dk1"/>
                </a:solidFill>
              </a:rPr>
              <a:t>. Projete uma infraestrutura em AWS para um aplicativo que espera 1 milhão de usuários/dia. Sugira os serviços (RDS, EC2, Lambda) e justifique suas escolhas de </a:t>
            </a:r>
            <a:r>
              <a:rPr b="1" lang="pt-BR" sz="2000">
                <a:solidFill>
                  <a:schemeClr val="dk1"/>
                </a:solidFill>
              </a:rPr>
              <a:t>escalabilidade</a:t>
            </a:r>
            <a:r>
              <a:rPr lang="pt-BR" sz="2000">
                <a:solidFill>
                  <a:schemeClr val="dk1"/>
                </a:solidFill>
              </a:rPr>
              <a:t>."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892277" y="6021974"/>
            <a:ext cx="78165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Construção Passo a Passo</a:t>
            </a:r>
            <a:endParaRPr sz="8800">
              <a:solidFill>
                <a:schemeClr val="lt1"/>
              </a:solidFill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870768" y="9340866"/>
            <a:ext cx="7816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Método da Cadeia de Pensamento (CoT)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870860" y="631795"/>
            <a:ext cx="7816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03</a:t>
            </a:r>
            <a:endParaRPr sz="9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/>
        </p:nvSpPr>
        <p:spPr>
          <a:xfrm>
            <a:off x="870768" y="1283424"/>
            <a:ext cx="7816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Em vez de pedir o resultado final de uma só vez, peça à IA para </a:t>
            </a:r>
            <a:r>
              <a:rPr b="1" lang="pt-BR" sz="2000">
                <a:solidFill>
                  <a:schemeClr val="dk1"/>
                </a:solidFill>
              </a:rPr>
              <a:t>pensar em voz alta</a:t>
            </a:r>
            <a:r>
              <a:rPr lang="pt-BR" sz="2000">
                <a:solidFill>
                  <a:schemeClr val="dk1"/>
                </a:solidFill>
              </a:rPr>
              <a:t> ou detalhar o raciocínio. Essa técnica, conhecida como </a:t>
            </a:r>
            <a:r>
              <a:rPr i="1" lang="pt-BR" sz="2000">
                <a:solidFill>
                  <a:schemeClr val="dk1"/>
                </a:solidFill>
              </a:rPr>
              <a:t>Chain-of-Thought</a:t>
            </a:r>
            <a:r>
              <a:rPr lang="pt-BR" sz="2000">
                <a:solidFill>
                  <a:schemeClr val="dk1"/>
                </a:solidFill>
              </a:rPr>
              <a:t> (CoT), força a IA a processar a lógica, resultando em respostas mais coerentes e menos erros.</a:t>
            </a:r>
            <a:endParaRPr sz="2000"/>
          </a:p>
        </p:txBody>
      </p:sp>
      <p:sp>
        <p:nvSpPr>
          <p:cNvPr id="150" name="Google Shape;150;p20"/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1270000" y="3492500"/>
            <a:ext cx="70338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Exemplo de prompt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"Para o seguinte problema de lógica booleana: P∧(Q∨¬P), simplifique a expressão. </a:t>
            </a:r>
            <a:r>
              <a:rPr b="1" lang="pt-BR" sz="2000">
                <a:solidFill>
                  <a:schemeClr val="dk1"/>
                </a:solidFill>
              </a:rPr>
              <a:t>Primeiro</a:t>
            </a:r>
            <a:r>
              <a:rPr lang="pt-BR" sz="2000">
                <a:solidFill>
                  <a:schemeClr val="dk1"/>
                </a:solidFill>
              </a:rPr>
              <a:t>, mostre a lei que você está aplicando. </a:t>
            </a:r>
            <a:r>
              <a:rPr b="1" lang="pt-BR" sz="2000">
                <a:solidFill>
                  <a:schemeClr val="dk1"/>
                </a:solidFill>
              </a:rPr>
              <a:t>Segundo</a:t>
            </a:r>
            <a:r>
              <a:rPr lang="pt-BR" sz="2000">
                <a:solidFill>
                  <a:schemeClr val="dk1"/>
                </a:solidFill>
              </a:rPr>
              <a:t>, execute a simplificação. </a:t>
            </a:r>
            <a:r>
              <a:rPr b="1" lang="pt-BR" sz="2000">
                <a:solidFill>
                  <a:schemeClr val="dk1"/>
                </a:solidFill>
              </a:rPr>
              <a:t>Terceiro</a:t>
            </a:r>
            <a:r>
              <a:rPr lang="pt-BR" sz="2000">
                <a:solidFill>
                  <a:schemeClr val="dk1"/>
                </a:solidFill>
              </a:rPr>
              <a:t>, me dê o resultado final."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Outro exemplo: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"</a:t>
            </a:r>
            <a:r>
              <a:rPr lang="pt-BR" sz="2000">
                <a:solidFill>
                  <a:schemeClr val="dk1"/>
                </a:solidFill>
              </a:rPr>
              <a:t>"Eu preciso de um script que automatize o </a:t>
            </a:r>
            <a:r>
              <a:rPr i="1" lang="pt-BR" sz="2000">
                <a:solidFill>
                  <a:schemeClr val="dk1"/>
                </a:solidFill>
              </a:rPr>
              <a:t>deployment</a:t>
            </a:r>
            <a:r>
              <a:rPr lang="pt-BR" sz="2000">
                <a:solidFill>
                  <a:schemeClr val="dk1"/>
                </a:solidFill>
              </a:rPr>
              <a:t> de um site estático no Vercel. </a:t>
            </a:r>
            <a:r>
              <a:rPr b="1" lang="pt-BR" sz="2000">
                <a:solidFill>
                  <a:schemeClr val="dk1"/>
                </a:solidFill>
              </a:rPr>
              <a:t>1.</a:t>
            </a:r>
            <a:r>
              <a:rPr lang="pt-BR" sz="2000">
                <a:solidFill>
                  <a:schemeClr val="dk1"/>
                </a:solidFill>
              </a:rPr>
              <a:t> Liste os passos do </a:t>
            </a:r>
            <a:r>
              <a:rPr i="1" lang="pt-BR" sz="2000">
                <a:solidFill>
                  <a:schemeClr val="dk1"/>
                </a:solidFill>
              </a:rPr>
              <a:t>workflow</a:t>
            </a:r>
            <a:r>
              <a:rPr lang="pt-BR" sz="2000">
                <a:solidFill>
                  <a:schemeClr val="dk1"/>
                </a:solidFill>
              </a:rPr>
              <a:t> no GitHub Actions. </a:t>
            </a:r>
            <a:r>
              <a:rPr b="1" lang="pt-BR" sz="2000">
                <a:solidFill>
                  <a:schemeClr val="dk1"/>
                </a:solidFill>
              </a:rPr>
              <a:t>2.</a:t>
            </a:r>
            <a:r>
              <a:rPr lang="pt-BR" sz="2000">
                <a:solidFill>
                  <a:schemeClr val="dk1"/>
                </a:solidFill>
              </a:rPr>
              <a:t> Escreva o código YAML para o </a:t>
            </a:r>
            <a:r>
              <a:rPr i="1" lang="pt-BR" sz="2000">
                <a:solidFill>
                  <a:schemeClr val="dk1"/>
                </a:solidFill>
              </a:rPr>
              <a:t>workflow</a:t>
            </a:r>
            <a:r>
              <a:rPr lang="pt-BR" sz="2000">
                <a:solidFill>
                  <a:schemeClr val="dk1"/>
                </a:solidFill>
              </a:rPr>
              <a:t> que executa o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npm install</a:t>
            </a:r>
            <a:r>
              <a:rPr lang="pt-BR" sz="2000">
                <a:solidFill>
                  <a:schemeClr val="dk1"/>
                </a:solidFill>
              </a:rPr>
              <a:t> e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npm run build</a:t>
            </a:r>
            <a:r>
              <a:rPr lang="pt-BR" sz="2000">
                <a:solidFill>
                  <a:schemeClr val="dk1"/>
                </a:solidFill>
              </a:rPr>
              <a:t> e, por fim, o </a:t>
            </a:r>
            <a:r>
              <a:rPr i="1" lang="pt-BR" sz="2000">
                <a:solidFill>
                  <a:schemeClr val="dk1"/>
                </a:solidFill>
              </a:rPr>
              <a:t>deploy</a:t>
            </a:r>
            <a:r>
              <a:rPr lang="pt-BR" sz="2000">
                <a:solidFill>
                  <a:schemeClr val="dk1"/>
                </a:solidFill>
              </a:rPr>
              <a:t>."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892277" y="6021974"/>
            <a:ext cx="78165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A Sentença T-800</a:t>
            </a:r>
            <a:endParaRPr sz="8800"/>
          </a:p>
        </p:txBody>
      </p:sp>
      <p:sp>
        <p:nvSpPr>
          <p:cNvPr id="158" name="Google Shape;158;p21"/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870768" y="9340866"/>
            <a:ext cx="781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Restrições e Limitações</a:t>
            </a:r>
            <a:endParaRPr sz="6000"/>
          </a:p>
        </p:txBody>
      </p:sp>
      <p:sp>
        <p:nvSpPr>
          <p:cNvPr id="160" name="Google Shape;160;p21"/>
          <p:cNvSpPr txBox="1"/>
          <p:nvPr/>
        </p:nvSpPr>
        <p:spPr>
          <a:xfrm>
            <a:off x="870860" y="631795"/>
            <a:ext cx="7816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/>
        </p:nvSpPr>
        <p:spPr>
          <a:xfrm>
            <a:off x="870768" y="1283424"/>
            <a:ext cx="7816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Defina o que a IA </a:t>
            </a:r>
            <a:r>
              <a:rPr b="1" lang="pt-BR" sz="2000">
                <a:solidFill>
                  <a:schemeClr val="dk1"/>
                </a:solidFill>
              </a:rPr>
              <a:t>não deve</a:t>
            </a:r>
            <a:r>
              <a:rPr lang="pt-BR" sz="2000">
                <a:solidFill>
                  <a:schemeClr val="dk1"/>
                </a:solidFill>
              </a:rPr>
              <a:t> fazer ou o </a:t>
            </a:r>
            <a:r>
              <a:rPr b="1" lang="pt-BR" sz="2000">
                <a:solidFill>
                  <a:schemeClr val="dk1"/>
                </a:solidFill>
              </a:rPr>
              <a:t>limite</a:t>
            </a:r>
            <a:r>
              <a:rPr lang="pt-BR" sz="2000">
                <a:solidFill>
                  <a:schemeClr val="dk1"/>
                </a:solidFill>
              </a:rPr>
              <a:t> que ela deve respeitar. Usar palavras-chave como </a:t>
            </a:r>
            <a:r>
              <a:rPr b="1" lang="pt-BR" sz="2000">
                <a:solidFill>
                  <a:schemeClr val="dk1"/>
                </a:solidFill>
              </a:rPr>
              <a:t>"Apenas," "Exclua," "Máximo de X"</a:t>
            </a:r>
            <a:r>
              <a:rPr lang="pt-BR" sz="2000">
                <a:solidFill>
                  <a:schemeClr val="dk1"/>
                </a:solidFill>
              </a:rPr>
              <a:t> garante que a resposta permaneça dentro dos seus parâmetros definidos.</a:t>
            </a:r>
            <a:endParaRPr sz="2000"/>
          </a:p>
        </p:txBody>
      </p:sp>
      <p:sp>
        <p:nvSpPr>
          <p:cNvPr id="166" name="Google Shape;166;p22"/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1270000" y="3492500"/>
            <a:ext cx="70338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Exemplo de prompt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"Crie 5 exemplos de nomes de variáveis seguindo o padrão </a:t>
            </a:r>
            <a:r>
              <a:rPr b="1" lang="pt-BR" sz="2000">
                <a:solidFill>
                  <a:schemeClr val="dk1"/>
                </a:solidFill>
              </a:rPr>
              <a:t>camelCase</a:t>
            </a:r>
            <a:r>
              <a:rPr lang="pt-BR" sz="2000">
                <a:solidFill>
                  <a:schemeClr val="dk1"/>
                </a:solidFill>
              </a:rPr>
              <a:t> para um projeto de comércio eletrônico. </a:t>
            </a:r>
            <a:r>
              <a:rPr b="1" lang="pt-BR" sz="2000">
                <a:solidFill>
                  <a:schemeClr val="dk1"/>
                </a:solidFill>
              </a:rPr>
              <a:t>Apenas</a:t>
            </a:r>
            <a:r>
              <a:rPr lang="pt-BR" sz="2000">
                <a:solidFill>
                  <a:schemeClr val="dk1"/>
                </a:solidFill>
              </a:rPr>
              <a:t> forneça os nomes, </a:t>
            </a:r>
            <a:r>
              <a:rPr b="1" lang="pt-BR" sz="2000">
                <a:solidFill>
                  <a:schemeClr val="dk1"/>
                </a:solidFill>
              </a:rPr>
              <a:t>não inclua</a:t>
            </a:r>
            <a:r>
              <a:rPr lang="pt-BR" sz="2000">
                <a:solidFill>
                  <a:schemeClr val="dk1"/>
                </a:solidFill>
              </a:rPr>
              <a:t> nenhuma explicação ou definição."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Outro exemplo: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"Explique o conceito de </a:t>
            </a:r>
            <a:r>
              <a:rPr i="1" lang="pt-BR" sz="2000">
                <a:solidFill>
                  <a:schemeClr val="dk1"/>
                </a:solidFill>
              </a:rPr>
              <a:t>API Gateway</a:t>
            </a:r>
            <a:r>
              <a:rPr lang="pt-BR" sz="2000">
                <a:solidFill>
                  <a:schemeClr val="dk1"/>
                </a:solidFill>
              </a:rPr>
              <a:t> usando o </a:t>
            </a:r>
            <a:r>
              <a:rPr b="1" lang="pt-BR" sz="2000">
                <a:solidFill>
                  <a:schemeClr val="dk1"/>
                </a:solidFill>
              </a:rPr>
              <a:t>máximo de 150 palavras</a:t>
            </a:r>
            <a:r>
              <a:rPr lang="pt-BR" sz="2000">
                <a:solidFill>
                  <a:schemeClr val="dk1"/>
                </a:solidFill>
              </a:rPr>
              <a:t>. </a:t>
            </a:r>
            <a:r>
              <a:rPr b="1" lang="pt-BR" sz="2000">
                <a:solidFill>
                  <a:schemeClr val="dk1"/>
                </a:solidFill>
              </a:rPr>
              <a:t>Exclua</a:t>
            </a:r>
            <a:r>
              <a:rPr lang="pt-BR" sz="2000">
                <a:solidFill>
                  <a:schemeClr val="dk1"/>
                </a:solidFill>
              </a:rPr>
              <a:t> qualquer menção a provedores de nuvem específicos (AWS, Azure, GCP)."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892277" y="6021974"/>
            <a:ext cx="78165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 Feedback do Sistema</a:t>
            </a:r>
            <a:endParaRPr sz="8800"/>
          </a:p>
        </p:txBody>
      </p:sp>
      <p:sp>
        <p:nvSpPr>
          <p:cNvPr id="174" name="Google Shape;174;p23"/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870768" y="9340866"/>
            <a:ext cx="7816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Tática do Refinamento Iterativo</a:t>
            </a:r>
            <a:endParaRPr sz="6000"/>
          </a:p>
        </p:txBody>
      </p:sp>
      <p:sp>
        <p:nvSpPr>
          <p:cNvPr id="176" name="Google Shape;176;p23"/>
          <p:cNvSpPr txBox="1"/>
          <p:nvPr/>
        </p:nvSpPr>
        <p:spPr>
          <a:xfrm>
            <a:off x="870860" y="631795"/>
            <a:ext cx="7816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05</a:t>
            </a:r>
            <a:endParaRPr sz="9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/>
        </p:nvSpPr>
        <p:spPr>
          <a:xfrm>
            <a:off x="870768" y="1283424"/>
            <a:ext cx="78165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Em vez de tratar o </a:t>
            </a:r>
            <a:r>
              <a:rPr i="1" lang="pt-BR" sz="2000">
                <a:solidFill>
                  <a:schemeClr val="dk1"/>
                </a:solidFill>
              </a:rPr>
              <a:t>prompt</a:t>
            </a:r>
            <a:r>
              <a:rPr lang="pt-BR" sz="2000">
                <a:solidFill>
                  <a:schemeClr val="dk1"/>
                </a:solidFill>
              </a:rPr>
              <a:t> como uma única interação, use a IA em um </a:t>
            </a:r>
            <a:r>
              <a:rPr b="1" lang="pt-BR" sz="2000">
                <a:solidFill>
                  <a:schemeClr val="dk1"/>
                </a:solidFill>
              </a:rPr>
              <a:t>ciclo de </a:t>
            </a:r>
            <a:r>
              <a:rPr b="1" i="1" lang="pt-BR" sz="2000">
                <a:solidFill>
                  <a:schemeClr val="dk1"/>
                </a:solidFill>
              </a:rPr>
              <a:t>feedback</a:t>
            </a:r>
            <a:r>
              <a:rPr lang="pt-BR" sz="2000">
                <a:solidFill>
                  <a:schemeClr val="dk1"/>
                </a:solidFill>
              </a:rPr>
              <a:t>. O segredo é pedir à IA para </a:t>
            </a:r>
            <a:r>
              <a:rPr b="1" lang="pt-BR" sz="2000">
                <a:solidFill>
                  <a:schemeClr val="dk1"/>
                </a:solidFill>
              </a:rPr>
              <a:t>criticar, refinar ou depurar</a:t>
            </a:r>
            <a:r>
              <a:rPr lang="pt-BR" sz="2000">
                <a:solidFill>
                  <a:schemeClr val="dk1"/>
                </a:solidFill>
              </a:rPr>
              <a:t> a sua própria saída (ou a de um código). Isso imita o processo de revisão de código, onde o resultado é gradualmente melhorado.</a:t>
            </a:r>
            <a:endParaRPr sz="2000"/>
          </a:p>
        </p:txBody>
      </p:sp>
      <p:sp>
        <p:nvSpPr>
          <p:cNvPr id="182" name="Google Shape;182;p24"/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4"/>
          <p:cNvSpPr txBox="1"/>
          <p:nvPr/>
        </p:nvSpPr>
        <p:spPr>
          <a:xfrm>
            <a:off x="1270000" y="3492500"/>
            <a:ext cx="7033800" cy="4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Exemplo de prompt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"O código JavaScript a seguir funciona, mas é lento. </a:t>
            </a:r>
            <a:r>
              <a:rPr b="1" lang="pt-BR" sz="2000">
                <a:solidFill>
                  <a:schemeClr val="dk1"/>
                </a:solidFill>
              </a:rPr>
              <a:t>Identifique</a:t>
            </a:r>
            <a:r>
              <a:rPr lang="pt-BR" sz="2000">
                <a:solidFill>
                  <a:schemeClr val="dk1"/>
                </a:solidFill>
              </a:rPr>
              <a:t> a seção com a maior complexidade de tempo (</a:t>
            </a:r>
            <a:r>
              <a:rPr i="1" lang="pt-BR" sz="2000">
                <a:solidFill>
                  <a:schemeClr val="dk1"/>
                </a:solidFill>
              </a:rPr>
              <a:t>Big O</a:t>
            </a:r>
            <a:r>
              <a:rPr lang="pt-BR" sz="2000">
                <a:solidFill>
                  <a:schemeClr val="dk1"/>
                </a:solidFill>
              </a:rPr>
              <a:t> notation) e </a:t>
            </a:r>
            <a:r>
              <a:rPr b="1" lang="pt-BR" sz="2000">
                <a:solidFill>
                  <a:schemeClr val="dk1"/>
                </a:solidFill>
              </a:rPr>
              <a:t>reescreva</a:t>
            </a:r>
            <a:r>
              <a:rPr lang="pt-BR" sz="2000">
                <a:solidFill>
                  <a:schemeClr val="dk1"/>
                </a:solidFill>
              </a:rPr>
              <a:t> a função para ser mais eficiente, mantendo a mesma saída."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Outro exemplo: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"Você gerou a documentação de API anteriormente. Agora, </a:t>
            </a:r>
            <a:r>
              <a:rPr b="1" lang="pt-BR" sz="2000">
                <a:solidFill>
                  <a:schemeClr val="dk1"/>
                </a:solidFill>
              </a:rPr>
              <a:t>revise-a</a:t>
            </a:r>
            <a:r>
              <a:rPr lang="pt-BR" sz="2000">
                <a:solidFill>
                  <a:schemeClr val="dk1"/>
                </a:solidFill>
              </a:rPr>
              <a:t> para garantir que todos os exemplos de código estejam em </a:t>
            </a:r>
            <a:r>
              <a:rPr b="1" lang="pt-BR" sz="2000">
                <a:solidFill>
                  <a:schemeClr val="dk1"/>
                </a:solidFill>
              </a:rPr>
              <a:t>cURL</a:t>
            </a:r>
            <a:r>
              <a:rPr lang="pt-BR" sz="2000">
                <a:solidFill>
                  <a:schemeClr val="dk1"/>
                </a:solidFill>
              </a:rPr>
              <a:t> e que o </a:t>
            </a:r>
            <a:r>
              <a:rPr b="1" lang="pt-BR" sz="2000">
                <a:solidFill>
                  <a:schemeClr val="dk1"/>
                </a:solidFill>
              </a:rPr>
              <a:t>código de status HTTP</a:t>
            </a:r>
            <a:r>
              <a:rPr lang="pt-BR" sz="2000">
                <a:solidFill>
                  <a:schemeClr val="dk1"/>
                </a:solidFill>
              </a:rPr>
              <a:t> para cada endpoint esteja explicitamente listado."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892277" y="6021974"/>
            <a:ext cx="78165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Data Input Matrix</a:t>
            </a:r>
            <a:endParaRPr sz="8800"/>
          </a:p>
        </p:txBody>
      </p:sp>
      <p:sp>
        <p:nvSpPr>
          <p:cNvPr id="190" name="Google Shape;190;p25"/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870768" y="9340866"/>
            <a:ext cx="7816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Estrutura de Entrada de Dados</a:t>
            </a:r>
            <a:endParaRPr sz="6000"/>
          </a:p>
        </p:txBody>
      </p:sp>
      <p:sp>
        <p:nvSpPr>
          <p:cNvPr id="192" name="Google Shape;192;p25"/>
          <p:cNvSpPr txBox="1"/>
          <p:nvPr/>
        </p:nvSpPr>
        <p:spPr>
          <a:xfrm>
            <a:off x="870860" y="631795"/>
            <a:ext cx="7816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06</a:t>
            </a:r>
            <a:endParaRPr sz="9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/>
        </p:nvSpPr>
        <p:spPr>
          <a:xfrm>
            <a:off x="870768" y="1307847"/>
            <a:ext cx="78165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Quando você tem muitos dados para processar (como listas de variáveis, requisitos ou configurações), não jogue tudo no texto corrido. Use formatos </a:t>
            </a:r>
            <a:r>
              <a:rPr b="1" lang="pt-BR" sz="2000">
                <a:solidFill>
                  <a:schemeClr val="dk1"/>
                </a:solidFill>
              </a:rPr>
              <a:t>estruturados</a:t>
            </a:r>
            <a:r>
              <a:rPr lang="pt-BR" sz="2000">
                <a:solidFill>
                  <a:schemeClr val="dk1"/>
                </a:solidFill>
              </a:rPr>
              <a:t> como tabelas, JSON ou XML dentro do </a:t>
            </a:r>
            <a:r>
              <a:rPr i="1" lang="pt-BR" sz="2000">
                <a:solidFill>
                  <a:schemeClr val="dk1"/>
                </a:solidFill>
              </a:rPr>
              <a:t>prompt</a:t>
            </a:r>
            <a:r>
              <a:rPr lang="pt-BR" sz="2000">
                <a:solidFill>
                  <a:schemeClr val="dk1"/>
                </a:solidFill>
              </a:rPr>
              <a:t>. Isso ajuda a IA a interpretar os dados de forma mais limpa e a evitar erros de leitura.</a:t>
            </a:r>
            <a:endParaRPr sz="2000"/>
          </a:p>
        </p:txBody>
      </p:sp>
      <p:sp>
        <p:nvSpPr>
          <p:cNvPr id="198" name="Google Shape;198;p26"/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1270000" y="3492500"/>
            <a:ext cx="7033800" cy="4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Exemplo de prompt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"Eu tenho a seguinte lista de </a:t>
            </a:r>
            <a:r>
              <a:rPr i="1" lang="pt-BR" sz="2000">
                <a:solidFill>
                  <a:schemeClr val="dk1"/>
                </a:solidFill>
              </a:rPr>
              <a:t>endpoints</a:t>
            </a:r>
            <a:r>
              <a:rPr lang="pt-BR" sz="2000">
                <a:solidFill>
                  <a:schemeClr val="dk1"/>
                </a:solidFill>
              </a:rPr>
              <a:t> e seus métodos HTTP em formato JSON. </a:t>
            </a:r>
            <a:r>
              <a:rPr b="1" lang="pt-BR" sz="2000">
                <a:solidFill>
                  <a:schemeClr val="dk1"/>
                </a:solidFill>
              </a:rPr>
              <a:t>Gere</a:t>
            </a:r>
            <a:r>
              <a:rPr lang="pt-BR" sz="2000">
                <a:solidFill>
                  <a:schemeClr val="dk1"/>
                </a:solidFill>
              </a:rPr>
              <a:t> a documentação OpenAPI (Swagger) para cada um deles. O campo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required_auth</a:t>
            </a:r>
            <a:r>
              <a:rPr lang="pt-BR" sz="2000">
                <a:solidFill>
                  <a:schemeClr val="dk1"/>
                </a:solidFill>
              </a:rPr>
              <a:t> indica se o token JWT é necessário."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Outro exemplo: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"Com base na tabela de requisitos de usuário abaixo, </a:t>
            </a:r>
            <a:r>
              <a:rPr b="1" lang="pt-BR" sz="2000">
                <a:solidFill>
                  <a:schemeClr val="dk1"/>
                </a:solidFill>
              </a:rPr>
              <a:t>crie</a:t>
            </a:r>
            <a:r>
              <a:rPr lang="pt-BR" sz="2000">
                <a:solidFill>
                  <a:schemeClr val="dk1"/>
                </a:solidFill>
              </a:rPr>
              <a:t> um </a:t>
            </a:r>
            <a:r>
              <a:rPr i="1" lang="pt-BR" sz="2000">
                <a:solidFill>
                  <a:schemeClr val="dk1"/>
                </a:solidFill>
              </a:rPr>
              <a:t>script</a:t>
            </a:r>
            <a:r>
              <a:rPr lang="pt-BR" sz="2000">
                <a:solidFill>
                  <a:schemeClr val="dk1"/>
                </a:solidFill>
              </a:rPr>
              <a:t> de migração para o banco de dados PostgreSQL. Para os status, crie um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ENUM</a:t>
            </a:r>
            <a:r>
              <a:rPr lang="pt-BR" sz="2000">
                <a:solidFill>
                  <a:schemeClr val="dk1"/>
                </a:solidFill>
              </a:rPr>
              <a:t> e para os valores, crie a </a:t>
            </a:r>
            <a:r>
              <a:rPr i="1" lang="pt-BR" sz="2000">
                <a:solidFill>
                  <a:schemeClr val="dk1"/>
                </a:solidFill>
              </a:rPr>
              <a:t>query</a:t>
            </a:r>
            <a:r>
              <a:rPr lang="pt-BR" sz="2000">
                <a:solidFill>
                  <a:schemeClr val="dk1"/>
                </a:solidFill>
              </a:rPr>
              <a:t>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</a:t>
            </a:r>
            <a:r>
              <a:rPr lang="pt-BR" sz="2000">
                <a:solidFill>
                  <a:schemeClr val="dk1"/>
                </a:solidFill>
              </a:rPr>
              <a:t>."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892277" y="7365243"/>
            <a:ext cx="78165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Zero e Few-Shot</a:t>
            </a:r>
            <a:endParaRPr sz="8800"/>
          </a:p>
        </p:txBody>
      </p:sp>
      <p:sp>
        <p:nvSpPr>
          <p:cNvPr id="206" name="Google Shape;206;p27"/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870768" y="9340866"/>
            <a:ext cx="781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Arte da Demonstração</a:t>
            </a:r>
            <a:endParaRPr sz="6000"/>
          </a:p>
        </p:txBody>
      </p:sp>
      <p:sp>
        <p:nvSpPr>
          <p:cNvPr id="208" name="Google Shape;208;p27"/>
          <p:cNvSpPr txBox="1"/>
          <p:nvPr/>
        </p:nvSpPr>
        <p:spPr>
          <a:xfrm>
            <a:off x="1023260" y="784195"/>
            <a:ext cx="7816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07</a:t>
            </a:r>
            <a:endParaRPr sz="9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/>
        </p:nvSpPr>
        <p:spPr>
          <a:xfrm>
            <a:off x="870768" y="1283424"/>
            <a:ext cx="78165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Esta técnica define o quanto você precisa "ensinar" a IA no </a:t>
            </a:r>
            <a:r>
              <a:rPr i="1" lang="pt-BR" sz="2000">
                <a:solidFill>
                  <a:schemeClr val="dk1"/>
                </a:solidFill>
              </a:rPr>
              <a:t>prompt</a:t>
            </a:r>
            <a:r>
              <a:rPr lang="pt-BR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Zero-Shot:</a:t>
            </a:r>
            <a:r>
              <a:rPr lang="pt-BR" sz="2000">
                <a:solidFill>
                  <a:schemeClr val="dk1"/>
                </a:solidFill>
              </a:rPr>
              <a:t> Não há exemplos. Você confia apenas na instrução.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Few-Shot:</a:t>
            </a:r>
            <a:r>
              <a:rPr lang="pt-BR" sz="2000">
                <a:solidFill>
                  <a:schemeClr val="dk1"/>
                </a:solidFill>
              </a:rPr>
              <a:t> Você fornece </a:t>
            </a:r>
            <a:r>
              <a:rPr b="1" lang="pt-BR" sz="2000">
                <a:solidFill>
                  <a:schemeClr val="dk1"/>
                </a:solidFill>
              </a:rPr>
              <a:t>um ou mais exemplos</a:t>
            </a:r>
            <a:r>
              <a:rPr lang="pt-BR" sz="2000">
                <a:solidFill>
                  <a:schemeClr val="dk1"/>
                </a:solidFill>
              </a:rPr>
              <a:t> de como a entrada deve ser processada para obter a saída desejada. Isso é essencial para tarefas que exigem um estilo ou formato muito específico.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1270000" y="4103077"/>
            <a:ext cx="7033800" cy="75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Exemplo de prompt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"Você deve transformar títulos de </a:t>
            </a:r>
            <a:r>
              <a:rPr i="1" lang="pt-BR" sz="2000">
                <a:solidFill>
                  <a:schemeClr val="dk1"/>
                </a:solidFill>
              </a:rPr>
              <a:t>commits</a:t>
            </a:r>
            <a:r>
              <a:rPr lang="pt-BR" sz="2000">
                <a:solidFill>
                  <a:schemeClr val="dk1"/>
                </a:solidFill>
              </a:rPr>
              <a:t> em formato de </a:t>
            </a:r>
            <a:r>
              <a:rPr i="1" lang="pt-BR" sz="2000">
                <a:solidFill>
                  <a:schemeClr val="dk1"/>
                </a:solidFill>
              </a:rPr>
              <a:t>Conventional Commit</a:t>
            </a:r>
            <a:r>
              <a:rPr lang="pt-BR" sz="2000">
                <a:solidFill>
                  <a:schemeClr val="dk1"/>
                </a:solidFill>
              </a:rPr>
              <a:t>. Use o formato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type(scope): subject</a:t>
            </a:r>
            <a:r>
              <a:rPr lang="pt-BR" sz="2000">
                <a:solidFill>
                  <a:schemeClr val="dk1"/>
                </a:solidFill>
              </a:rPr>
              <a:t>. Veja o exemplo: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chemeClr val="dk1"/>
                </a:solidFill>
              </a:rPr>
              <a:t>Exemplo de Entrada:</a:t>
            </a:r>
            <a:r>
              <a:rPr lang="pt-BR" sz="2000">
                <a:solidFill>
                  <a:schemeClr val="dk1"/>
                </a:solidFill>
              </a:rPr>
              <a:t> Otimizei a função de login.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chemeClr val="dk1"/>
                </a:solidFill>
              </a:rPr>
              <a:t>Saída Desejada:</a:t>
            </a:r>
            <a:r>
              <a:rPr lang="pt-BR" sz="2000">
                <a:solidFill>
                  <a:schemeClr val="dk1"/>
                </a:solidFill>
              </a:rPr>
              <a:t>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feat(auth): otimiza função de login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</a:rPr>
              <a:t>Agora, transforme o seguinte:</a:t>
            </a:r>
            <a:r>
              <a:rPr lang="pt-BR" sz="2000">
                <a:solidFill>
                  <a:schemeClr val="dk1"/>
                </a:solidFill>
              </a:rPr>
              <a:t> Corrigi um bug no </a:t>
            </a:r>
            <a:r>
              <a:rPr i="1" lang="pt-BR" sz="2000">
                <a:solidFill>
                  <a:schemeClr val="dk1"/>
                </a:solidFill>
              </a:rPr>
              <a:t>checkout</a:t>
            </a:r>
            <a:r>
              <a:rPr lang="pt-BR" sz="2000">
                <a:solidFill>
                  <a:schemeClr val="dk1"/>
                </a:solidFill>
              </a:rPr>
              <a:t> que estava travando o pagamento."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Outro exemplo: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"Quero converter mensagens de erro genéricas em mensagens amigáveis para o usuário. Use este padrão: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chemeClr val="dk1"/>
                </a:solidFill>
              </a:rPr>
              <a:t>Erro Bruto:</a:t>
            </a:r>
            <a:r>
              <a:rPr lang="pt-BR" sz="2000">
                <a:solidFill>
                  <a:schemeClr val="dk1"/>
                </a:solidFill>
              </a:rPr>
              <a:t>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NullPointerException: user_id is null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chemeClr val="dk1"/>
                </a:solidFill>
              </a:rPr>
              <a:t>Mensagem Amigável:</a:t>
            </a:r>
            <a:r>
              <a:rPr lang="pt-BR" sz="2000">
                <a:solidFill>
                  <a:schemeClr val="dk1"/>
                </a:solidFill>
              </a:rPr>
              <a:t> 'Não foi possível carregar as informações. Tente fazer login novamente.'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2000">
                <a:solidFill>
                  <a:schemeClr val="dk1"/>
                </a:solidFill>
              </a:rPr>
              <a:t>Converta:</a:t>
            </a:r>
            <a:r>
              <a:rPr lang="pt-BR" sz="2000">
                <a:solidFill>
                  <a:schemeClr val="dk1"/>
                </a:solidFill>
              </a:rPr>
              <a:t>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SyntaxError: Unexpected token '}'</a:t>
            </a:r>
            <a:r>
              <a:rPr lang="pt-BR" sz="2000">
                <a:solidFill>
                  <a:schemeClr val="dk1"/>
                </a:solidFill>
              </a:rPr>
              <a:t>"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892277" y="6021974"/>
            <a:ext cx="78165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O Paradigma da Colaboração</a:t>
            </a:r>
            <a:endParaRPr sz="8800"/>
          </a:p>
        </p:txBody>
      </p:sp>
      <p:sp>
        <p:nvSpPr>
          <p:cNvPr id="222" name="Google Shape;222;p29"/>
          <p:cNvSpPr/>
          <p:nvPr/>
        </p:nvSpPr>
        <p:spPr>
          <a:xfrm>
            <a:off x="976944" y="8776129"/>
            <a:ext cx="7731900" cy="106200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870768" y="9340866"/>
            <a:ext cx="7816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Você é o Controlador da Skynet</a:t>
            </a:r>
            <a:endParaRPr sz="6000"/>
          </a:p>
        </p:txBody>
      </p:sp>
      <p:sp>
        <p:nvSpPr>
          <p:cNvPr id="224" name="Google Shape;224;p29"/>
          <p:cNvSpPr txBox="1"/>
          <p:nvPr/>
        </p:nvSpPr>
        <p:spPr>
          <a:xfrm>
            <a:off x="1023260" y="784195"/>
            <a:ext cx="7816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08</a:t>
            </a:r>
            <a:endParaRPr sz="9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/>
          <p:nvPr/>
        </p:nvSpPr>
        <p:spPr>
          <a:xfrm>
            <a:off x="870768" y="1283424"/>
            <a:ext cx="7816500" cy="75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Você completou a exploração das principais técnicas para dominar o </a:t>
            </a:r>
            <a:r>
              <a:rPr i="1" lang="pt-BR" sz="2000">
                <a:solidFill>
                  <a:schemeClr val="dk1"/>
                </a:solidFill>
              </a:rPr>
              <a:t>Prompt Engineering</a:t>
            </a:r>
            <a:r>
              <a:rPr lang="pt-BR" sz="2000">
                <a:solidFill>
                  <a:schemeClr val="dk1"/>
                </a:solidFill>
              </a:rPr>
              <a:t>. É hora de estabelecer a perspectiva correta sobre o seu papel neste novo ecossistema de desenvolvimento.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Apesar da temática épica, a realidade é muito mais colaborativa do que de confronto. As IAs, por mais avançadas que sejam, </a:t>
            </a:r>
            <a:r>
              <a:rPr b="1" lang="pt-BR" sz="2000">
                <a:solidFill>
                  <a:schemeClr val="dk1"/>
                </a:solidFill>
              </a:rPr>
              <a:t>não estão aqui para substituir o programador humano</a:t>
            </a:r>
            <a:r>
              <a:rPr lang="pt-BR" sz="2000">
                <a:solidFill>
                  <a:schemeClr val="dk1"/>
                </a:solidFill>
              </a:rPr>
              <a:t>, mas sim para atuar como uma </a:t>
            </a:r>
            <a:r>
              <a:rPr b="1" lang="pt-BR" sz="2000">
                <a:solidFill>
                  <a:schemeClr val="dk1"/>
                </a:solidFill>
              </a:rPr>
              <a:t>ferramenta de potencialização</a:t>
            </a:r>
            <a:r>
              <a:rPr lang="pt-BR" sz="2000">
                <a:solidFill>
                  <a:schemeClr val="dk1"/>
                </a:solidFill>
              </a:rPr>
              <a:t> de conhecimento e otimização de tempo.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chemeClr val="dk1"/>
                </a:solidFill>
              </a:rPr>
              <a:t>A IA como Copiloto (e Não o Piloto)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O verdadeiro poder das IAs no nicho de programação reside em sua capacidade de: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pt-BR" sz="2000">
                <a:solidFill>
                  <a:schemeClr val="dk1"/>
                </a:solidFill>
              </a:rPr>
              <a:t>Acelerar a Produção:</a:t>
            </a:r>
            <a:r>
              <a:rPr lang="pt-BR" sz="2000">
                <a:solidFill>
                  <a:schemeClr val="dk1"/>
                </a:solidFill>
              </a:rPr>
              <a:t> Gerar código </a:t>
            </a:r>
            <a:r>
              <a:rPr i="1" lang="pt-BR" sz="2000">
                <a:solidFill>
                  <a:schemeClr val="dk1"/>
                </a:solidFill>
              </a:rPr>
              <a:t>boilerplate</a:t>
            </a:r>
            <a:r>
              <a:rPr lang="pt-BR" sz="2000">
                <a:solidFill>
                  <a:schemeClr val="dk1"/>
                </a:solidFill>
              </a:rPr>
              <a:t> ou rascunhos rapidamente.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pt-BR" sz="2000">
                <a:solidFill>
                  <a:schemeClr val="dk1"/>
                </a:solidFill>
              </a:rPr>
              <a:t>Otimizar o Tempo:</a:t>
            </a:r>
            <a:r>
              <a:rPr lang="pt-BR" sz="2000">
                <a:solidFill>
                  <a:schemeClr val="dk1"/>
                </a:solidFill>
              </a:rPr>
              <a:t> Permitir que o desenvolvedor se concentre em problemas complexos de arquitetura e lógica de negócio, e não na sintaxe repetitiva.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pt-BR" sz="2000">
                <a:solidFill>
                  <a:schemeClr val="dk1"/>
                </a:solidFill>
              </a:rPr>
              <a:t>Aprimorar o Conhecimento:</a:t>
            </a:r>
            <a:r>
              <a:rPr lang="pt-BR" sz="2000">
                <a:solidFill>
                  <a:schemeClr val="dk1"/>
                </a:solidFill>
              </a:rPr>
              <a:t> Sugerir abordagens, documentar APIs e explicar conceitos complexos instantaneamente.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/>
        </p:nvSpPr>
        <p:spPr>
          <a:xfrm>
            <a:off x="870768" y="1283424"/>
            <a:ext cx="7816500" cy="98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chemeClr val="dk1"/>
                </a:solidFill>
              </a:rPr>
              <a:t>O Papel Insubstituível do Humano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É fundamental lembrar que a IA opera com base em padrões e dados de treinamento. Ela não possui a capacidade de </a:t>
            </a:r>
            <a:r>
              <a:rPr b="1" lang="pt-BR" sz="2000">
                <a:solidFill>
                  <a:schemeClr val="dk1"/>
                </a:solidFill>
              </a:rPr>
              <a:t>raciocínio crítico contextual</a:t>
            </a:r>
            <a:r>
              <a:rPr lang="pt-BR" sz="2000">
                <a:solidFill>
                  <a:schemeClr val="dk1"/>
                </a:solidFill>
              </a:rPr>
              <a:t>, </a:t>
            </a:r>
            <a:r>
              <a:rPr b="1" lang="pt-BR" sz="2000">
                <a:solidFill>
                  <a:schemeClr val="dk1"/>
                </a:solidFill>
              </a:rPr>
              <a:t>validação de requisitos éticos</a:t>
            </a:r>
            <a:r>
              <a:rPr lang="pt-BR" sz="2000">
                <a:solidFill>
                  <a:schemeClr val="dk1"/>
                </a:solidFill>
              </a:rPr>
              <a:t> ou </a:t>
            </a:r>
            <a:r>
              <a:rPr b="1" lang="pt-BR" sz="2000">
                <a:solidFill>
                  <a:schemeClr val="dk1"/>
                </a:solidFill>
              </a:rPr>
              <a:t>compreensão total</a:t>
            </a:r>
            <a:r>
              <a:rPr lang="pt-BR" sz="2000">
                <a:solidFill>
                  <a:schemeClr val="dk1"/>
                </a:solidFill>
              </a:rPr>
              <a:t> das implicações de um código em um sistema complexo e único.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Portanto, o ciclo de trabalho com a IA exige a intervenção humana: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Verificar a Saída:</a:t>
            </a:r>
            <a:r>
              <a:rPr lang="pt-BR" sz="2000">
                <a:solidFill>
                  <a:schemeClr val="dk1"/>
                </a:solidFill>
              </a:rPr>
              <a:t> O código gerado pela IA pode conter erros sutis, vulnerabilidades de segurança ou ineficiências. Você deve atuar como o </a:t>
            </a:r>
            <a:r>
              <a:rPr b="1" lang="pt-BR" sz="2000">
                <a:solidFill>
                  <a:schemeClr val="dk1"/>
                </a:solidFill>
              </a:rPr>
              <a:t>revisor e testador primário</a:t>
            </a:r>
            <a:r>
              <a:rPr lang="pt-BR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Corrigir e Refinar:</a:t>
            </a:r>
            <a:r>
              <a:rPr lang="pt-BR" sz="2000">
                <a:solidFill>
                  <a:schemeClr val="dk1"/>
                </a:solidFill>
              </a:rPr>
              <a:t> O </a:t>
            </a:r>
            <a:r>
              <a:rPr i="1" lang="pt-BR" sz="2000">
                <a:solidFill>
                  <a:schemeClr val="dk1"/>
                </a:solidFill>
              </a:rPr>
              <a:t>prompt</a:t>
            </a:r>
            <a:r>
              <a:rPr lang="pt-BR" sz="2000">
                <a:solidFill>
                  <a:schemeClr val="dk1"/>
                </a:solidFill>
              </a:rPr>
              <a:t> raramente é perfeito de primeira. É o seu trabalho </a:t>
            </a:r>
            <a:r>
              <a:rPr b="1" lang="pt-BR" sz="2000">
                <a:solidFill>
                  <a:schemeClr val="dk1"/>
                </a:solidFill>
              </a:rPr>
              <a:t>refinar o código</a:t>
            </a:r>
            <a:r>
              <a:rPr lang="pt-BR" sz="2000">
                <a:solidFill>
                  <a:schemeClr val="dk1"/>
                </a:solidFill>
              </a:rPr>
              <a:t> para atender aos padrões específicos do seu projeto (formatação, </a:t>
            </a:r>
            <a:r>
              <a:rPr i="1" lang="pt-BR" sz="2000">
                <a:solidFill>
                  <a:schemeClr val="dk1"/>
                </a:solidFill>
              </a:rPr>
              <a:t>design patterns</a:t>
            </a:r>
            <a:r>
              <a:rPr lang="pt-BR" sz="2000">
                <a:solidFill>
                  <a:schemeClr val="dk1"/>
                </a:solidFill>
              </a:rPr>
              <a:t>, etc.).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Validar a Lógica:</a:t>
            </a:r>
            <a:r>
              <a:rPr lang="pt-BR" sz="2000">
                <a:solidFill>
                  <a:schemeClr val="dk1"/>
                </a:solidFill>
              </a:rPr>
              <a:t> O código está sintaticamente correto, mas </a:t>
            </a:r>
            <a:r>
              <a:rPr b="1" lang="pt-BR" sz="2000">
                <a:solidFill>
                  <a:schemeClr val="dk1"/>
                </a:solidFill>
              </a:rPr>
              <a:t>ele realmente resolve o problema de negócio</a:t>
            </a:r>
            <a:r>
              <a:rPr lang="pt-BR" sz="2000">
                <a:solidFill>
                  <a:schemeClr val="dk1"/>
                </a:solidFill>
              </a:rPr>
              <a:t>? A validação final da lógica e dos requisitos é sempre uma responsabilidade humana.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O </a:t>
            </a:r>
            <a:r>
              <a:rPr i="1" lang="pt-BR" sz="2000">
                <a:solidFill>
                  <a:schemeClr val="dk1"/>
                </a:solidFill>
              </a:rPr>
              <a:t>Prompt Engineering</a:t>
            </a:r>
            <a:r>
              <a:rPr lang="pt-BR" sz="2000">
                <a:solidFill>
                  <a:schemeClr val="dk1"/>
                </a:solidFill>
              </a:rPr>
              <a:t> transforma você no </a:t>
            </a:r>
            <a:r>
              <a:rPr b="1" lang="pt-BR" sz="2000">
                <a:solidFill>
                  <a:schemeClr val="dk1"/>
                </a:solidFill>
              </a:rPr>
              <a:t>Arquiteto da Comunicação</a:t>
            </a:r>
            <a:r>
              <a:rPr lang="pt-BR" sz="2000">
                <a:solidFill>
                  <a:schemeClr val="dk1"/>
                </a:solidFill>
              </a:rPr>
              <a:t>. Ao dominar as técnicas deste Ebook, você se torna o colaborador mais valioso da IA, garantindo que a tecnologia sirva à sua criatividade e eficiência, e não o contrário.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chemeClr val="dk1"/>
                </a:solidFill>
              </a:rPr>
              <a:t>O futuro da programação é um ciclo de colaboração inteligente, onde a máquina gera e o humano valida, corrige e inova.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36" name="Google Shape;236;p31"/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892277" y="6388320"/>
            <a:ext cx="781664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AGRADECIMENTOS</a:t>
            </a:r>
            <a:endParaRPr/>
          </a:p>
        </p:txBody>
      </p:sp>
      <p:sp>
        <p:nvSpPr>
          <p:cNvPr id="243" name="Google Shape;243;p32"/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/>
        </p:nvSpPr>
        <p:spPr>
          <a:xfrm>
            <a:off x="870768" y="2822078"/>
            <a:ext cx="7816645" cy="261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 Ebook foi gerado por IA, e diagramado por humano.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passo a passo se encontra no meu Github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 conteúdo foi gerado com fins didáticos de construção, não foi realizado uma validação cuidadosa humana no conteúdo e pode conter erros gerados por uma IA.</a:t>
            </a:r>
            <a:endParaRPr/>
          </a:p>
        </p:txBody>
      </p:sp>
      <p:sp>
        <p:nvSpPr>
          <p:cNvPr id="249" name="Google Shape;249;p33"/>
          <p:cNvSpPr txBox="1"/>
          <p:nvPr/>
        </p:nvSpPr>
        <p:spPr>
          <a:xfrm>
            <a:off x="2269438" y="777781"/>
            <a:ext cx="83027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OBRIGADO POR LER ATÉ AQUI</a:t>
            </a:r>
            <a:endParaRPr/>
          </a:p>
        </p:txBody>
      </p:sp>
      <p:sp>
        <p:nvSpPr>
          <p:cNvPr id="250" name="Google Shape;250;p33"/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>
            <a:gsLst>
              <a:gs pos="0">
                <a:srgbClr val="11FFFE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36AB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3"/>
          <p:cNvSpPr/>
          <p:nvPr/>
        </p:nvSpPr>
        <p:spPr>
          <a:xfrm>
            <a:off x="870768" y="7097501"/>
            <a:ext cx="7562940" cy="646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https://github.com/rafaelpoh/prompts-recipe-to-create-a-ebook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itHub Logos and Usage · GitHub" id="252" name="Google Shape;25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3953" y="5587726"/>
            <a:ext cx="1676570" cy="1676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9A117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